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7AB0FF"/>
                </a:solidFill>
                <a:latin typeface="Calibri"/>
              </a:rPr>
              <a:t>TRS WEB — QA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Test Approach, Findings &amp; Live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7D2E8"/>
                </a:solidFill>
                <a:latin typeface="Calibri"/>
              </a:rPr>
              <a:t>Documentation walkthrough +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Sekhwari Masindi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2"/>
                </a:solidFill>
                <a:latin typeface="Calibri"/>
              </a:rPr>
              <a:t>1-hour presentation — documentation, findings &amp; live automation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5DA8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What we'll cover in the next hour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777240" cy="566928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73352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A5DA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184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3"/>
                </a:solidFill>
                <a:latin typeface="Calibri"/>
              </a:rPr>
              <a:t>Scope &amp;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2938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What was tested, how, and why — 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777240" cy="566928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A5DA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7685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3"/>
                </a:solidFill>
                <a:latin typeface="Calibri"/>
              </a:rPr>
              <a:t>Test Strategy &amp;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87751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Page Object Model, coverage, techniques used — 10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16935"/>
            <a:ext cx="777240" cy="566928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0087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A5DA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3522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3"/>
                </a:solidFill>
                <a:latin typeface="Calibri"/>
              </a:rPr>
              <a:t>Test Case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19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Suite overview mapped to the QA report — 10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75303"/>
            <a:ext cx="777240" cy="566928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48455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A5DA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93591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3"/>
                </a:solidFill>
                <a:latin typeface="Calibri"/>
              </a:rPr>
              <a:t>Findings &amp; 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04487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3 confirmed app defects, evidence-first — 10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33671"/>
            <a:ext cx="777240" cy="566928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06823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A5DA8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25195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3"/>
                </a:solidFill>
                <a:latin typeface="Calibri"/>
              </a:rPr>
              <a:t>Live Automation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562855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Run a subset of tests against the real app — 15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92039"/>
            <a:ext cx="777240" cy="566928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65191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A5DA8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910327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3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221223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Known constraints + what I'd add next — 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50407"/>
            <a:ext cx="777240" cy="566928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23559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A5DA8"/>
                </a:solidFill>
                <a:latin typeface="Calibri"/>
              </a:rPr>
              <a:t>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568695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3"/>
                </a:solidFill>
                <a:latin typeface="Calibri"/>
              </a:rPr>
              <a:t>Discussion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879591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Open floor — 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5DA8"/>
                </a:solidFill>
                <a:latin typeface="Calibri"/>
              </a:rPr>
              <a:t>01 · SCOPE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What was tested, and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370"/>
                </a:solidFill>
                <a:latin typeface="Calibri"/>
              </a:rPr>
              <a:t>Target: trs-web.vercel.app — a live, shared demo deployment (not an isolated test env)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3383280" cy="4572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Authentication (sign up, login, logout)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People management (add / edit / delete)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Hobby management (add / edit / delete)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Dashboard (hobby distribution chart)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Full end-to-end user journey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057400"/>
            <a:ext cx="3383280" cy="4572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80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.NET 8 / C#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Selenium WebDriver 4.46 (ChromeDriver)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NUnit 4 test framework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ExtentReports 5 for HTML reporting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GIF screen recording per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057400"/>
            <a:ext cx="3383280" cy="4572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488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697480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Page Object Model, one class per page/feature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Expected / Actual pair logged before every assertion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Unique GUID-suffixed test data per run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Sequential execution — shared live environment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350" b="0">
                <a:solidFill>
                  <a:srgbClr val="1A1D23"/>
                </a:solidFill>
                <a:latin typeface="Calibri"/>
              </a:rPr>
              <a:t>Tests written against correct expected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5DA8"/>
                </a:solidFill>
                <a:latin typeface="Calibri"/>
              </a:rPr>
              <a:t>02 · 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Page Object Model, split into two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743200" cy="9144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01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A5DA8"/>
                </a:solidFill>
                <a:latin typeface="Consolas"/>
              </a:rPr>
              <a:t>Objects/*Locators.cs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370"/>
                </a:solidFill>
                <a:latin typeface="Calibri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92808"/>
            <a:ext cx="7589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3"/>
                </a:solidFill>
                <a:latin typeface="Calibri"/>
              </a:rPr>
              <a:t>Locator repository — only By locators, nothing else</a:t>
            </a:r>
          </a:p>
        </p:txBody>
      </p:sp>
      <p:sp>
        <p:nvSpPr>
          <p:cNvPr id="9" name="Down Arrow 8"/>
          <p:cNvSpPr/>
          <p:nvPr/>
        </p:nvSpPr>
        <p:spPr>
          <a:xfrm>
            <a:off x="1874519" y="2606040"/>
            <a:ext cx="457200" cy="164592"/>
          </a:xfrm>
          <a:prstGeom prst="downArrow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2743200" cy="914400"/>
          </a:xfrm>
          <a:prstGeom prst="rect">
            <a:avLst/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E7D53"/>
                </a:solidFill>
                <a:latin typeface="Consolas"/>
              </a:rPr>
              <a:t>Pages/*Page.cs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278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370"/>
                </a:solidFill>
                <a:latin typeface="Calibri"/>
              </a:rPr>
              <a:t>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71800"/>
            <a:ext cx="7589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3"/>
                </a:solidFill>
                <a:latin typeface="Calibri"/>
              </a:rPr>
              <a:t>Actions &amp; behaviour built from those locators, plus Submit* convenience methods returning result records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874519" y="3685032"/>
            <a:ext cx="457200" cy="164592"/>
          </a:xfrm>
          <a:prstGeom prst="downArrow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9624"/>
            <a:ext cx="2743200" cy="9144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593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07A1E"/>
                </a:solidFill>
                <a:latin typeface="Consolas"/>
              </a:rPr>
              <a:t>Assertions/*.cs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0682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370"/>
                </a:solidFill>
                <a:latin typeface="Calibri"/>
              </a:rPr>
              <a:t>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50791"/>
            <a:ext cx="7589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3"/>
                </a:solidFill>
                <a:latin typeface="Calibri"/>
              </a:rPr>
              <a:t>Assert.That calls kept out of test bodies entirely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874519" y="4764024"/>
            <a:ext cx="457200" cy="164592"/>
          </a:xfrm>
          <a:prstGeom prst="downArrow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928616"/>
            <a:ext cx="2743200" cy="914400"/>
          </a:xfrm>
          <a:prstGeom prst="rect">
            <a:avLst/>
          </a:prstGeom>
          <a:solidFill>
            <a:srgbClr val="F0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3834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A4BA6"/>
                </a:solidFill>
                <a:latin typeface="Consolas"/>
              </a:rPr>
              <a:t>Tests/*.cs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858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370"/>
                </a:solidFill>
                <a:latin typeface="Calibri"/>
              </a:rPr>
              <a:t>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129783"/>
            <a:ext cx="7589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3"/>
                </a:solidFill>
                <a:latin typeface="Calibri"/>
              </a:rPr>
              <a:t>Call page-object methods → log Expected/Actual → hand result to Assertions helper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B6370"/>
                </a:solidFill>
                <a:latin typeface="Calibri"/>
              </a:rPr>
              <a:t>Why: tests never touch a By locator or call Driver.FindElement directly — keeps intent readable and locator churn isolated.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5DA8"/>
                </a:solidFill>
                <a:latin typeface="Calibri"/>
              </a:rPr>
              <a:t>02 · 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Test design techniques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841248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Boundary Value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5DA8"/>
                </a:solidFill>
                <a:latin typeface="Consolas"/>
              </a:rPr>
              <a:t>AddPerson_NameBoundary_TwoCharacters_IsRejected / ThreeCharacters_IsAccepted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370"/>
                </a:solidFill>
                <a:latin typeface="Calibri"/>
              </a:rPr>
              <a:t>Proves the exact edge of the name-length rule, not just “too short” in general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82296" cy="841248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Equivalence Partitioning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98063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5DA8"/>
                </a:solidFill>
                <a:latin typeface="Consolas"/>
              </a:rPr>
              <a:t>SignUp password validation: no letter / no number / no special char / no uppercase / too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54096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370"/>
                </a:solidFill>
                <a:latin typeface="Calibri"/>
              </a:rPr>
              <a:t>Each partition of the password rule gets its own targeted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19856"/>
            <a:ext cx="82296" cy="841248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Negative / Validation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5DA8"/>
                </a:solidFill>
                <a:latin typeface="Consolas"/>
              </a:rPr>
              <a:t>Blank-field validation on Add Person and Add Hobby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86783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370"/>
                </a:solidFill>
                <a:latin typeface="Calibri"/>
              </a:rPr>
              <a:t>Confirms the form rejects incomplete input before it reaches the 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52544"/>
            <a:ext cx="82296" cy="841248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52544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Duplicate-Data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5DA8"/>
                </a:solidFill>
                <a:latin typeface="Consolas"/>
              </a:rPr>
              <a:t>AddPerson duplicate email / AddHobby duplicate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19472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370"/>
                </a:solidFill>
                <a:latin typeface="Calibri"/>
              </a:rPr>
              <a:t>Surfaces real defects — duplicate hobby names are silently accepted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85231"/>
            <a:ext cx="82296" cy="841248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85231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End-to-End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96127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5DA8"/>
                </a:solidFill>
                <a:latin typeface="Consolas"/>
              </a:rPr>
              <a:t>Sign Up → Login → Add Person → Add Hobby → Link → Dashboard → Logout →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52159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370"/>
                </a:solidFill>
                <a:latin typeface="Calibri"/>
              </a:rPr>
              <a:t>One connected smoke path across every feature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5DA8"/>
                </a:solidFill>
                <a:latin typeface="Calibri"/>
              </a:rPr>
              <a:t>03 · TEST CASE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Test suite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658368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600200"/>
            <a:ext cx="19202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1600200"/>
            <a:ext cx="6675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258568"/>
            <a:ext cx="19202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D23"/>
                </a:solidFill>
                <a:latin typeface="Consolas"/>
              </a:rPr>
              <a:t>LoginTests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58568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Login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258568"/>
            <a:ext cx="6675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Valid/invalid login, logout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16936"/>
            <a:ext cx="10881360" cy="658368"/>
          </a:xfrm>
          <a:prstGeom prst="rect">
            <a:avLst/>
          </a:prstGeom>
          <a:solidFill>
            <a:srgbClr val="F7F9FC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916936"/>
            <a:ext cx="19202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D23"/>
                </a:solidFill>
                <a:latin typeface="Consolas"/>
              </a:rPr>
              <a:t>SignUpTests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16936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Sign Up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916936"/>
            <a:ext cx="6675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Sign-up with a unique generated email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75304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575304"/>
            <a:ext cx="19202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D23"/>
                </a:solidFill>
                <a:latin typeface="Consolas"/>
              </a:rPr>
              <a:t>PersonTests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575304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People 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3575304"/>
            <a:ext cx="6675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Add / edit / delete; blank-field validation; duplicate email; name boundary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33672"/>
            <a:ext cx="10881360" cy="658368"/>
          </a:xfrm>
          <a:prstGeom prst="rect">
            <a:avLst/>
          </a:prstGeom>
          <a:solidFill>
            <a:srgbClr val="F7F9FC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4233672"/>
            <a:ext cx="19202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D23"/>
                </a:solidFill>
                <a:latin typeface="Consolas"/>
              </a:rPr>
              <a:t>HobbyTests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233672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Hobby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4233672"/>
            <a:ext cx="6675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Add / edit / delete; blank-field validation; duplicate hobby 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9204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4892040"/>
            <a:ext cx="19202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D23"/>
                </a:solidFill>
                <a:latin typeface="Consolas"/>
              </a:rPr>
              <a:t>DashboardTests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892040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4892040"/>
            <a:ext cx="6675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Hobby Distribution chart reflects a newly added hobby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50408"/>
            <a:ext cx="10881360" cy="658368"/>
          </a:xfrm>
          <a:prstGeom prst="rect">
            <a:avLst/>
          </a:prstGeom>
          <a:solidFill>
            <a:srgbClr val="F7F9FC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5550408"/>
            <a:ext cx="19202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D23"/>
                </a:solidFill>
                <a:latin typeface="Consolas"/>
              </a:rPr>
              <a:t>EndToEndTests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550408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End To 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59" y="5550408"/>
            <a:ext cx="6675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Full journey: Sign Up → Login → Add Person → Add Hobby → Link → Dashboard → Logout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459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370"/>
                </a:solidFill>
                <a:latin typeface="Calibri"/>
              </a:rPr>
              <a:t>Unique test data (emails, hobby names) generated per run via a short GUID-derived suffix — tests can repeat without colliding.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5DA8"/>
                </a:solidFill>
                <a:latin typeface="Calibri"/>
              </a:rPr>
              <a:t>03 · TEST CASE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What every test report 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1907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3"/>
                </a:solidFill>
                <a:latin typeface="Calibri"/>
              </a:rPr>
              <a:t>System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79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Browser, Selenium, .NET, OS, target environment — reproducibility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39"/>
            <a:ext cx="502920" cy="5029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9191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87751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3"/>
                </a:solidFill>
                <a:latin typeface="Calibri"/>
              </a:rPr>
              <a:t>Step-by-step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59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Navigation, form input, clicks — logged as they happen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5643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3"/>
                </a:solidFill>
                <a:latin typeface="Calibri"/>
              </a:rPr>
              <a:t>Expected: / Actual: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49039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Logged immediately before every assertion, not just a final pass/fail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1655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2511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3"/>
                </a:solidFill>
                <a:latin typeface="Calibri"/>
              </a:rPr>
              <a:t>Recording +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1772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A screen-recording GIF of the whole test, plus a screenshot on failure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681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5DA8"/>
                </a:solidFill>
                <a:latin typeface="Calibri"/>
              </a:rPr>
              <a:t>Committed sample report: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4243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D23"/>
                </a:solidFill>
                <a:latin typeface="Consolas"/>
              </a:rPr>
              <a:t>docs/sample-report/TestReport_20260724_113004.html — full run, all recordings 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9A9A"/>
                </a:solidFill>
                <a:latin typeface="Calibri"/>
              </a:rPr>
              <a:t>04 · FINDINGS &amp; DEFECTS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3 defects found — proven, not assumed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7D2E8"/>
                </a:solidFill>
                <a:latin typeface="Calibri"/>
              </a:rPr>
              <a:t>Each is backed by a live-verified automated test written against the correct expected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33A3A"/>
                </a:solidFill>
                <a:latin typeface="Calibri"/>
              </a:rPr>
              <a:t>04 · DEFECT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D23"/>
                </a:solidFill>
                <a:latin typeface="Calibri"/>
              </a:rPr>
              <a:t>Delete on the People grid doesn't actually delete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B33A3A"/>
                </a:solidFill>
                <a:latin typeface="Calibri"/>
              </a:rPr>
              <a:t>BUG-001 ·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B6370"/>
                </a:solidFill>
                <a:latin typeface="Calibri"/>
              </a:rPr>
              <a:t>Automated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5DA8"/>
                </a:solidFill>
                <a:latin typeface="Consolas"/>
              </a:rPr>
              <a:t>DeletePerson_WhenConfirmed_ShouldNotAppearAfterRefresh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B6370"/>
                </a:solidFill>
                <a:latin typeface="Calibri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Selecting a row and clicking Delete clears the row selection in the UI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But the person is still present in the grid after a page reload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This is the root cause of the 100+ accumulated test users in the shared demo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57800"/>
            <a:ext cx="10881360" cy="868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3"/>
                </a:solidFill>
                <a:latin typeface="Calibri"/>
              </a:rPr>
              <a:t>Why the test is left failing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B6370"/>
                </a:solidFill>
                <a:latin typeface="Calibri"/>
              </a:rPr>
              <a:t>The test asserts the person is absent after refresh — it fails today because the defect is real. “Fixing” the test without the app being fixed would hide the bug.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33A3A"/>
                </a:solidFill>
                <a:latin typeface="Calibri"/>
              </a:rPr>
              <a:t>04 · DEFECT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D23"/>
                </a:solidFill>
                <a:latin typeface="Calibri"/>
              </a:rPr>
              <a:t>Edit on the People grid is a dead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B33A3A"/>
                </a:solidFill>
                <a:latin typeface="Calibri"/>
              </a:rPr>
              <a:t>BUG-002 · 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B6370"/>
                </a:solidFill>
                <a:latin typeface="Calibri"/>
              </a:rPr>
              <a:t>Automated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5DA8"/>
                </a:solidFill>
                <a:latin typeface="Consolas"/>
              </a:rPr>
              <a:t>EditPerson_WhenClicked_ShouldDisplayEditDialog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B6370"/>
                </a:solidFill>
                <a:latin typeface="Calibri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The “Edit” menu item on a People-grid row has an empty href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Clicking it does not open an edit dialog — no navigation, no error, nothing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Discovered directly by the test attempting to locate the resulting dialog and finding none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57800"/>
            <a:ext cx="10881360" cy="868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3"/>
                </a:solidFill>
                <a:latin typeface="Calibri"/>
              </a:rPr>
              <a:t>Why the test is left failing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B6370"/>
                </a:solidFill>
                <a:latin typeface="Calibri"/>
              </a:rPr>
              <a:t>Left failing until the Edit menu item is wired to an actual dialog/action in the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33A3A"/>
                </a:solidFill>
                <a:latin typeface="Calibri"/>
              </a:rPr>
              <a:t>04 · DEFECT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D23"/>
                </a:solidFill>
                <a:latin typeface="Calibri"/>
              </a:rPr>
              <a:t>Duplicate hobby names are silently accepted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B33A3A"/>
                </a:solidFill>
                <a:latin typeface="Calibri"/>
              </a:rPr>
              <a:t>BUG-003 · 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B6370"/>
                </a:solidFill>
                <a:latin typeface="Calibri"/>
              </a:rPr>
              <a:t>Automated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5DA8"/>
                </a:solidFill>
                <a:latin typeface="Consolas"/>
              </a:rPr>
              <a:t>AddHobby_WithDuplicateName_ShouldBeRejectedOrFlagged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B6370"/>
                </a:solidFill>
                <a:latin typeface="Calibri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Add Hobby allows creating a second hobby with an identical name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No error, no rejection, no warning shown to the user</a:t>
            </a:r>
          </a:p>
          <a:p>
            <a:pPr marL="182880" indent="-182880">
              <a:lnSpc>
                <a:spcPct val="105000"/>
              </a:lnSpc>
              <a:spcAft>
                <a:spcPts val="1000"/>
              </a:spcAft>
              <a:buClr>
                <a:srgbClr val="2A5DA8"/>
              </a:buClr>
              <a:buFont typeface="Arial"/>
              <a:buChar char="▪"/>
            </a:pPr>
            <a:r>
              <a:rPr sz="1400" b="0">
                <a:solidFill>
                  <a:srgbClr val="1A1D23"/>
                </a:solidFill>
                <a:latin typeface="Calibri"/>
              </a:rPr>
              <a:t>Consequence: Edit/Delete are matched by name text, so duplicates make those actions ambiguous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57800"/>
            <a:ext cx="10881360" cy="868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3"/>
                </a:solidFill>
                <a:latin typeface="Calibri"/>
              </a:rPr>
              <a:t>Why the test is left failing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B6370"/>
                </a:solidFill>
                <a:latin typeface="Calibri"/>
              </a:rPr>
              <a:t>Left failing to document that the app should reject or flag duplicates — currently it does neither.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53"/>
                </a:solidFill>
                <a:latin typeface="Calibri"/>
              </a:rPr>
              <a:t>05 · LIVE AUTOMATION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What we'll run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A passing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A5DA8"/>
                </a:solidFill>
                <a:latin typeface="Consolas"/>
              </a:rPr>
              <a:t>Login_WithValidCredentials_ShouldReachDashboard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370"/>
                </a:solidFill>
                <a:latin typeface="Calibri"/>
              </a:rPr>
              <a:t>Shows the framework working end-to-end against the live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10881360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A defect test (fails on purpose)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A5DA8"/>
                </a:solidFill>
                <a:latin typeface="Consolas"/>
              </a:rPr>
              <a:t>DeletePerson_WhenConfirmed_ShouldNotAppearAfterRefresh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478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370"/>
                </a:solidFill>
                <a:latin typeface="Calibri"/>
              </a:rPr>
              <a:t>Shows BUG-001 reproducing live, not just in a canned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69080"/>
            <a:ext cx="10881360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78808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3"/>
                </a:solidFill>
                <a:latin typeface="Calibri"/>
              </a:rPr>
              <a:t>The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A5DA8"/>
                </a:solidFill>
                <a:latin typeface="Consolas"/>
              </a:rPr>
              <a:t>dotnet test --filter "FullyQualifiedName~&lt;TestName&gt;"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823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370"/>
                </a:solidFill>
                <a:latin typeface="Calibri"/>
              </a:rPr>
              <a:t>Filtered run — keeps the live segment fast and predictable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370"/>
                </a:solidFill>
                <a:latin typeface="Calibri"/>
              </a:rPr>
              <a:t>Fallback: if the shared demo environment is slow/unreachable, fall back to the committed sample report
(docs/sample-report/TestReport_20260724_113004.html) — same evidence, recorded.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5DA8"/>
                </a:solidFill>
                <a:latin typeface="Calibri"/>
              </a:rPr>
              <a:t>06 ·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Known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" cy="77724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D23"/>
                </a:solidFill>
                <a:latin typeface="Calibri"/>
              </a:rPr>
              <a:t>Shared live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11095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trs-web.vercel.app is public — other testers' data changes concurrently. Dashboard assertions tolerate this by checking test-owned outcomes rather than exact totals.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82296" cy="77724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D23"/>
                </a:solidFill>
                <a:latin typeface="Calibri"/>
              </a:rPr>
              <a:t>Accumulated test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62656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100+ users and 60+ hobbies have built up. Users can't be cleaned up via the UI (that's BUG-001 itself); hobbies can, via Delete Hobby.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82296" cy="77724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D23"/>
                </a:solidFill>
                <a:latin typeface="Calibri"/>
              </a:rPr>
              <a:t>Sequential execution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14215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Chosen deliberately — parallel runs previously caused report file-write collisions and timing races against the shared environment.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54879"/>
            <a:ext cx="82296" cy="77724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7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D23"/>
                </a:solidFill>
                <a:latin typeface="Calibri"/>
              </a:rPr>
              <a:t>No CI pipeline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5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370"/>
                </a:solidFill>
                <a:latin typeface="Calibri"/>
              </a:rPr>
              <a:t>Suite currently runs locally via dotnet test; not yet wired into a build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53"/>
                </a:solidFill>
                <a:latin typeface="Calibri"/>
              </a:rPr>
              <a:t>06 ·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3"/>
                </a:solidFill>
                <a:latin typeface="Calibri"/>
              </a:rPr>
              <a:t>What I'd add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5000"/>
              </a:lnSpc>
              <a:spcAft>
                <a:spcPts val="1600"/>
              </a:spcAft>
              <a:buClr>
                <a:srgbClr val="2A5DA8"/>
              </a:buClr>
              <a:buFont typeface="Arial"/>
              <a:buChar char="▪"/>
            </a:pPr>
            <a:r>
              <a:rPr sz="1600" b="0">
                <a:solidFill>
                  <a:srgbClr val="1A1D23"/>
                </a:solidFill>
                <a:latin typeface="Calibri"/>
              </a:rPr>
              <a:t>Wire the suite into a CI pipeline (build + test on every push)</a:t>
            </a:r>
          </a:p>
          <a:p>
            <a:pPr marL="182880" indent="-182880">
              <a:lnSpc>
                <a:spcPct val="105000"/>
              </a:lnSpc>
              <a:spcAft>
                <a:spcPts val="1600"/>
              </a:spcAft>
              <a:buClr>
                <a:srgbClr val="2A5DA8"/>
              </a:buClr>
              <a:buFont typeface="Arial"/>
              <a:buChar char="▪"/>
            </a:pPr>
            <a:r>
              <a:rPr sz="1600" b="0">
                <a:solidFill>
                  <a:srgbClr val="1A1D23"/>
                </a:solidFill>
                <a:latin typeface="Calibri"/>
              </a:rPr>
              <a:t>API-level checks alongside UI tests, to isolate UI vs backend defects faster</a:t>
            </a:r>
          </a:p>
          <a:p>
            <a:pPr marL="182880" indent="-182880">
              <a:lnSpc>
                <a:spcPct val="105000"/>
              </a:lnSpc>
              <a:spcAft>
                <a:spcPts val="1600"/>
              </a:spcAft>
              <a:buClr>
                <a:srgbClr val="2A5DA8"/>
              </a:buClr>
              <a:buFont typeface="Arial"/>
              <a:buChar char="▪"/>
            </a:pPr>
            <a:r>
              <a:rPr sz="1600" b="0">
                <a:solidFill>
                  <a:srgbClr val="1A1D23"/>
                </a:solidFill>
                <a:latin typeface="Calibri"/>
              </a:rPr>
              <a:t>A scheduled or on-demand cleanup routine for hobby clutter (delete works via UI)</a:t>
            </a:r>
          </a:p>
          <a:p>
            <a:pPr marL="182880" indent="-182880">
              <a:lnSpc>
                <a:spcPct val="105000"/>
              </a:lnSpc>
              <a:spcAft>
                <a:spcPts val="1600"/>
              </a:spcAft>
              <a:buClr>
                <a:srgbClr val="2A5DA8"/>
              </a:buClr>
              <a:buFont typeface="Arial"/>
              <a:buChar char="▪"/>
            </a:pPr>
            <a:r>
              <a:rPr sz="1600" b="0">
                <a:solidFill>
                  <a:srgbClr val="1A1D23"/>
                </a:solidFill>
                <a:latin typeface="Calibri"/>
              </a:rPr>
              <a:t>Request backend/database access to reset accumulated user data before demos</a:t>
            </a:r>
          </a:p>
          <a:p>
            <a:pPr marL="182880" indent="-182880">
              <a:lnSpc>
                <a:spcPct val="105000"/>
              </a:lnSpc>
              <a:spcAft>
                <a:spcPts val="1600"/>
              </a:spcAft>
              <a:buClr>
                <a:srgbClr val="2A5DA8"/>
              </a:buClr>
              <a:buFont typeface="Arial"/>
              <a:buChar char="▪"/>
            </a:pPr>
            <a:r>
              <a:rPr sz="1600" b="0">
                <a:solidFill>
                  <a:srgbClr val="1A1D23"/>
                </a:solidFill>
                <a:latin typeface="Calibri"/>
              </a:rPr>
              <a:t>Expand category coverage as new features land, following the same POM layering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Calibri"/>
              </a:rPr>
              <a:t>TRS QA Assignment — Sekhwari Masindi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7AB0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D2E8"/>
                </a:solidFill>
                <a:latin typeface="Consolas"/>
              </a:rPr>
              <a:t>Repo: github.com/Tourvest-Retail/trc-autoengineer-sekhwarim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D2E8"/>
                </a:solidFill>
                <a:latin typeface="Consolas"/>
              </a:rPr>
              <a:t>Sample report: docs/sample-report/TestReport_20260724_113004.html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